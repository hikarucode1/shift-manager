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3D4E88">
              <a:alpha val="40000"/>
            </a:srgbClr>
          </a:solidFill>
          <a:ln w="12700">
            <a:solidFill>
              <a:srgbClr val="3D4E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474720"/>
            <a:ext cx="2011680" cy="2011680"/>
          </a:xfrm>
          <a:prstGeom prst="ellipse">
            <a:avLst/>
          </a:prstGeom>
          <a:solidFill>
            <a:srgbClr val="E8833A">
              <a:alpha val="30000"/>
            </a:srgbClr>
          </a:solidFill>
          <a:ln w="12700">
            <a:solidFill>
              <a:srgbClr val="E8833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シフト管理システム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 仕様書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22960" y="4023360"/>
            <a:ext cx="3657600" cy="0"/>
          </a:xfrm>
          <a:prstGeom prst="line">
            <a:avLst/>
          </a:prstGeom>
          <a:noFill/>
          <a:ln w="12700">
            <a:solidFill>
              <a:srgbClr val="FDE9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14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対象読者: 教室長・管理者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目的:     開発着手前の機能・画面・運用フローのご確認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日付:     2026-04-22   バージョン v0.1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914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914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このシステムで何ができるか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914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914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登場人物（ユーザー）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1600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シフトの2つの期間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6002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00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運用フロー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2860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画面一覧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286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主要画面の詳細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971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2588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スマホ対応 / データの安全性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718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532120" y="2971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導入スケジュール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73152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32588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ご承認いただきたいポイント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このシステムで何ができるか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紙・LINE・Excel に散らばったシフト業務を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 Web サイトで完結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講師がスマホから提出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通常期間の固定シフト・講習期間の希望を、スマホで登録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10312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11880" y="2377440"/>
            <a:ext cx="502920" cy="5029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教室長は Excel のまま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いつもの Excel で組んだシフトをアップロードするだけで全員に公開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10312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377440"/>
            <a:ext cx="502920" cy="5029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550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交代・欠勤もアプリで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34290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申請 → 承認 → シフト差し替えまでアプリ内で完結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 導入するとこうなる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今（現状）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導入後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希望提出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LINE・紙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スマホから登録、締切管理も自動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シフト共有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プリント・LINE画像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アプリで全員に即公開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交代連絡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LINE グループ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アプリで申請 → 承認 → 反映まで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教室長の Excel 作業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そのまま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そのまま（変わらない）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9776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教室長さんが Excel でシフトを組む作業は </a:t>
            </a:r>
            <a:pPr indent="0" marL="0">
              <a:buNone/>
            </a:pPr>
            <a:r>
              <a:rPr lang="en-US" sz="1200" b="1" dirty="0">
                <a:solidFill>
                  <a:srgbClr val="C85A5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変わりません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。組んだ Excel を画面にアップロードするだけで反映されます。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 登場人物（ユーザー）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本システムには2種類のユーザーがいます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80160"/>
            <a:ext cx="109728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00200"/>
            <a:ext cx="731520" cy="7315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8308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830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（アルバイト）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自分の固定シフト（曜日×コマ）を登録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講習期間の希望をスマホから提出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確定されたシフトを閲覧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欠勤・交代・代講を申請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280160"/>
            <a:ext cx="109728" cy="329184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600200"/>
            <a:ext cx="731520" cy="7315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89788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8978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（管理者）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83464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講師の登録・招待・管理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通常期間・講習期間と締切の設定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希望の俯瞰（ヒートマップ）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をアップロードして週次シフトを確定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欠勤・交代申請の承認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 シフトの2つの期間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本システムは期間を「通常」と「講習」で分けて扱います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3840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80160"/>
            <a:ext cx="3840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通常期間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平常営業の時期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100584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提出方法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曜日×コマで固定シフトを登録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61488"/>
            <a:ext cx="100584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7614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61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月曜18-21時、水曜18-21時 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100584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3741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3741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毎週自動で適用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86784"/>
            <a:ext cx="100584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86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986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欠勤申請で日付指定の欠勤可能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3840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80160"/>
            <a:ext cx="3840480" cy="6858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講習期間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37760" y="1709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春期・夏期・冬期 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148840"/>
            <a:ext cx="1005840" cy="502920"/>
          </a:xfrm>
          <a:prstGeom prst="rect">
            <a:avLst/>
          </a:prstGeom>
          <a:solidFill>
            <a:srgbClr val="FDE9D4"/>
          </a:solidFill>
          <a:ln w="12700">
            <a:solidFill>
              <a:srgbClr val="FDE9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教室長が期間名・締切日を登録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761488"/>
            <a:ext cx="1005840" cy="502920"/>
          </a:xfrm>
          <a:prstGeom prst="rect">
            <a:avLst/>
          </a:prstGeom>
          <a:solidFill>
            <a:srgbClr val="FDE9D4"/>
          </a:solidFill>
          <a:ln w="12700">
            <a:solidFill>
              <a:srgbClr val="FDE9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614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27614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2026夏期講習 7/21〜8/31 締切7/10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74136"/>
            <a:ext cx="1005840" cy="502920"/>
          </a:xfrm>
          <a:prstGeom prst="rect">
            <a:avLst/>
          </a:prstGeom>
          <a:solidFill>
            <a:srgbClr val="FDE9D4"/>
          </a:solidFill>
          <a:ln w="12700">
            <a:solidFill>
              <a:srgbClr val="FDE9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3741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提出方法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3741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締切までに日ごとに希望コマを登録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986784"/>
            <a:ext cx="1005840" cy="502920"/>
          </a:xfrm>
          <a:prstGeom prst="rect">
            <a:avLst/>
          </a:prstGeom>
          <a:solidFill>
            <a:srgbClr val="FDE9D4"/>
          </a:solidFill>
          <a:ln w="12700">
            <a:solidFill>
              <a:srgbClr val="FDE9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98678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0" y="398678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読み取り専用（教室長が再開放可能）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運用フロー：通常期間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1280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868680"/>
            <a:ext cx="1280160" cy="4572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68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868680"/>
            <a:ext cx="128016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868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1325880"/>
            <a:ext cx="0" cy="3383280"/>
          </a:xfrm>
          <a:prstGeom prst="line">
            <a:avLst/>
          </a:prstGeom>
          <a:noFill/>
          <a:ln w="12700">
            <a:solidFill>
              <a:srgbClr val="D7DE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663440" y="1325880"/>
            <a:ext cx="0" cy="3383280"/>
          </a:xfrm>
          <a:prstGeom prst="line">
            <a:avLst/>
          </a:prstGeom>
          <a:noFill/>
          <a:ln w="12700">
            <a:solidFill>
              <a:srgbClr val="D7DE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138160" y="1325880"/>
            <a:ext cx="0" cy="3383280"/>
          </a:xfrm>
          <a:prstGeom prst="line">
            <a:avLst/>
          </a:prstGeom>
          <a:noFill/>
          <a:ln w="12700">
            <a:solidFill>
              <a:srgbClr val="D7DE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88720" y="169164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33856" y="163677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固定シフトを登録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103120"/>
            <a:ext cx="182880" cy="9144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Excel でシフト作成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608576" y="255117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Excel をアップロード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88720" y="3063240"/>
            <a:ext cx="694944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83296" y="300837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27432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確定シフトを全員に公開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88720" y="352044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133856" y="346557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欠勤申請（必要時）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97764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08576" y="392277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承認 → シフト差し替え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 運用フロー：講習期間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1280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868680"/>
            <a:ext cx="1280160" cy="45720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868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868680"/>
            <a:ext cx="128016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868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88720" y="1325880"/>
            <a:ext cx="0" cy="3108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663440" y="1325880"/>
            <a:ext cx="0" cy="3108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138160" y="1325880"/>
            <a:ext cx="0" cy="3108960"/>
          </a:xfrm>
          <a:prstGeom prst="line">
            <a:avLst/>
          </a:prstGeom>
          <a:noFill/>
          <a:ln w="12700">
            <a:solidFill>
              <a:srgbClr val="D7DE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663440" y="169164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08576" y="163677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教室長が講習期間と締切日を登録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88720" y="2240280"/>
            <a:ext cx="694944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33856" y="218541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1920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講師が日ごとに希望を提出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083296" y="273405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希望一覧を教室長が確認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347472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08576" y="328269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Excel でシフト作成 → アップロード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3886200"/>
            <a:ext cx="694944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83296" y="3831336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3566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確定シフトを講師に公開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370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 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講習期間は「春期」「夏期」等を何回でも登録可能。それぞれ別の締切日を設定できます。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画面一覧：講師用（スマホ・PC 共通）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48463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メールアドレスとパスワードでログイン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ホーム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今週のシフトと未読申請の確認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固定シフト登録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曜日×コマで通常期間の勤務可能枠を登録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欠勤申請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日付を選んで欠勤を申請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講習希望提出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講習期間ごとに日別で希望を登録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交代申請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確定シフトに対し交代・代講を申請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T-7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代講募集一覧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他講師の代講募集に応募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 画面一覧：教室長用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画面名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やること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ログイン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同上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ダッシュボード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今週の稼働状況・未対応申請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講師管理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講師の招待・有効/無効化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期間管理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通常/講習期間と締切日を設定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固定シフト俯瞰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全講師の固定枠を一覧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講習希望俯瞰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全講師の希望をカレンダー/ヒートマップ表示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3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A-7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Excel アップロード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⭐ 確定シフトの Excel を取り込み（中核機能）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A-8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週次シフト表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確定済みシフトを一覧・印刷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A-9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申請承認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欠勤・交代申請を承認/却下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T-3 固定シフト登録（講師）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通常期間の毎週の勤務可能枠を、曜日×コマで設定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47548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47548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固定シフト登録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4389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通常期間の毎週の勤務可能枠を設定します。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月    火    水    木    金    土    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1限   ☐    ☐    ☐    ☐    ☐    ☐    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2限   ☐    ☐    ☐    ☐    ☐    ☐    ☐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3限   ☑    ☐    ☑    ☐    ☑    ☐    ☐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4限   ☑    ☐    ☑    ☐    ☑    ☐    ☐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5限   ☑    ☐    ☑    ☐    ☑    ☐    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6限   ☐    ☐    ☐    ☐    ☐    ☐    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適用開始日 : 2026/05/01                [ 保存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操作のポイント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1600200"/>
            <a:ext cx="109728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737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マス目をタップで ON/OFF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「保存」を押すと次週から自動適用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いつでも再設定可能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適用開始日を指定して予約的に変更もできる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T-5 講習希望提出（講師）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講習期間の各日について、希望コマを選んで提出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475488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47548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 夏期講習 希望提出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4389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5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期間: 7/21〜8/31   締切: 7/10（あと12日）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[ &lt; 7月 ]   7月   [ 8月 &gt; 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月21  火22  水23  木24  金25  土26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1限   ☐    ☐    ☐    ☐    ☐    ☐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2限   ☑    ☑    ☐    ☑    ☑    ☐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3限   ☑    ☑    ☐    ☑    ☑    ☐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4限   ☑    ☑    ☐    ☑    ☑    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5限   ☐    ☐    ☐    ☐    ☐    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備考:  [                          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[ 一時保存 ][ 提出 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操作のポイント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77840" y="1600200"/>
            <a:ext cx="109728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737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講習期間の日付が一覧表示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希望コマをタップして選択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締切日まで何度でも修正可能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締切後は読み取り専用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教室長が締切延長（再開放）可能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A-7 Excel アップロード（教室長）  ★ 中核機能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8046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★ 重要 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いつもの Excel で組んだシフトをアップロードするだけで、講師全員に公開できます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493776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371600"/>
            <a:ext cx="4937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71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週次シフト確定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82880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対象週: [ 2026/07/06 〜 07/12 ]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ファイルを選択 ] shift_0706.xlsx    [ アップロード 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 読み取り結果プレビュー ──────────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月6  火7  水8  木9  金10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3限  田中  佐藤  田中  佐藤  田中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4限  山本  佐藤  山本  佐藤  山本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5限  山本  鈴木  山本  鈴木  山本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5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警告: 1件の講師名が一致しません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5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「田中」→ 田中太郎 で合ってますか？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 はい ]  [ 別の人を選ぶ 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[ キャンセル ]  [ 確定公開 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アップロード手順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187452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対象週を選択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228600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 ファイルを選択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69748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システムが自動で読み取り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310896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プレビューで内容確認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352044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警告があれば画面上で修正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3931920"/>
            <a:ext cx="274320" cy="27432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「確定公開」で全員に公開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A-6 講習希望俯瞰（教室長）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全講師の希望を、色の濃淡で一目で把握できるヒートマップ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12064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 希望一覧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期間: 7/21〜8/31    提出状況: 8 / 10 講師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828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55648" y="1828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火22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22576" y="1828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水23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9504" y="1828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木24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56432" y="1828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182880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10312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2103120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2103120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2576" y="2103120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9504" y="2103120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2103120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103120"/>
            <a:ext cx="512064" cy="274320"/>
          </a:xfrm>
          <a:prstGeom prst="rect">
            <a:avLst/>
          </a:prstGeom>
          <a:solidFill>
            <a:srgbClr val="F9C591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4323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2432304"/>
            <a:ext cx="512064" cy="274320"/>
          </a:xfrm>
          <a:prstGeom prst="rect">
            <a:avLst/>
          </a:prstGeom>
          <a:solidFill>
            <a:srgbClr val="F19F4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55648" y="2432304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22576" y="2432304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89504" y="2432304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56432" y="2432304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0" y="2432304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27614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188720" y="2761488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55648" y="2761488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22576" y="2761488"/>
            <a:ext cx="512064" cy="274320"/>
          </a:xfrm>
          <a:prstGeom prst="rect">
            <a:avLst/>
          </a:prstGeom>
          <a:solidFill>
            <a:srgbClr val="F19F4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89504" y="2761488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56432" y="2761488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2761488"/>
            <a:ext cx="512064" cy="274320"/>
          </a:xfrm>
          <a:prstGeom prst="rect">
            <a:avLst/>
          </a:prstGeom>
          <a:solidFill>
            <a:srgbClr val="F9C591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0906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4限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88720" y="3090672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55648" y="3090672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22576" y="3090672"/>
            <a:ext cx="512064" cy="274320"/>
          </a:xfrm>
          <a:prstGeom prst="rect">
            <a:avLst/>
          </a:prstGeom>
          <a:solidFill>
            <a:srgbClr val="F19F4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9504" y="3090672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56432" y="3090672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23360" y="3090672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41985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5限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188720" y="3419856"/>
            <a:ext cx="512064" cy="274320"/>
          </a:xfrm>
          <a:prstGeom prst="rect">
            <a:avLst/>
          </a:prstGeom>
          <a:solidFill>
            <a:srgbClr val="F19F4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55648" y="3419856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22576" y="3419856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889504" y="3419856"/>
            <a:ext cx="512064" cy="274320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3419856"/>
            <a:ext cx="512064" cy="274320"/>
          </a:xfrm>
          <a:prstGeom prst="rect">
            <a:avLst/>
          </a:prstGeom>
          <a:solidFill>
            <a:srgbClr val="F19F4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23360" y="3419856"/>
            <a:ext cx="512064" cy="274320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色が濃いほど希望者多い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926080" y="4069080"/>
            <a:ext cx="228600" cy="201168"/>
          </a:xfrm>
          <a:prstGeom prst="rect">
            <a:avLst/>
          </a:prstGeom>
          <a:solidFill>
            <a:srgbClr val="FDECD9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4680" y="40507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0-1名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11880" y="4069080"/>
            <a:ext cx="228600" cy="201168"/>
          </a:xfrm>
          <a:prstGeom prst="rect">
            <a:avLst/>
          </a:prstGeom>
          <a:solidFill>
            <a:srgbClr val="F9C591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0" y="40507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2名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97680" y="4069080"/>
            <a:ext cx="228600" cy="201168"/>
          </a:xfrm>
          <a:prstGeom prst="rect">
            <a:avLst/>
          </a:prstGeom>
          <a:solidFill>
            <a:srgbClr val="F19F4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26280" y="40507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3名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983480" y="4069080"/>
            <a:ext cx="228600" cy="201168"/>
          </a:xfrm>
          <a:prstGeom prst="rect">
            <a:avLst/>
          </a:prstGeom>
          <a:solidFill>
            <a:srgbClr val="E8833A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2080" y="40507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4名以上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436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見方・使い方</a:t>
            </a:r>
            <a:endParaRPr lang="en-US" sz="1500" dirty="0"/>
          </a:p>
        </p:txBody>
      </p:sp>
      <p:sp>
        <p:nvSpPr>
          <p:cNvPr id="63" name="Shape 61"/>
          <p:cNvSpPr/>
          <p:nvPr/>
        </p:nvSpPr>
        <p:spPr>
          <a:xfrm>
            <a:off x="5943600" y="1600200"/>
            <a:ext cx="109728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43600" y="17373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縦が コマ、横が 日付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色の濃淡で希望者数を表現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セルをタップでその日時の希望者一覧を表示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提出状況（n/m）で締切までの進捗を確認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 T-6 / A-9 交代・代講申請と承認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急な欠勤・代講もアプリ内で完結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38404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234440"/>
            <a:ext cx="38404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【講師】交代申請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対象: 7/10(水) 3限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交代相手: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 ) 代講を募集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(●) 指名する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 山本太郎  ▼ 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理由: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体調不良のため            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[ 申請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384048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【教室長】承認待ち申請 (3件)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田中 → 山本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7/10(水) 3限 / 理由: 体調不良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 承認 ] [ 却下 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鈴木 → 代講募集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7/12(金) 4限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応募: 高橋, 佐藤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 高橋を承認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 佐藤を承認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[ 却下 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 スマホ対応 / データの安全性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868680"/>
            <a:ext cx="3931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868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スマホ対応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05840" y="1600200"/>
            <a:ext cx="1463040" cy="2743200"/>
          </a:xfrm>
          <a:prstGeom prst="roundRect">
            <a:avLst>
              <a:gd name="adj" fmla="val 9375"/>
            </a:avLst>
          </a:prstGeom>
          <a:solidFill>
            <a:srgbClr val="0F1A45"/>
          </a:solidFill>
          <a:ln w="25400">
            <a:solidFill>
              <a:srgbClr val="0F1A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783080"/>
            <a:ext cx="1280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828800"/>
            <a:ext cx="1188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≡  固定シフト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月 火 水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☐ ☐ ☐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☐ ☐ ☐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☑ ☐ ☑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☑ ☐ ☑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[← 金土日→]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E88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 保存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1737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全画面レスポンシブ対応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移動中・休憩中の利用を想定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タップ操作に最適化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68680"/>
            <a:ext cx="3931920" cy="5029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868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データの安全性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846320" y="1600200"/>
            <a:ext cx="320040" cy="320040"/>
          </a:xfrm>
          <a:prstGeom prst="ellipse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ログイン必須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関係者以外アクセス不可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58568"/>
            <a:ext cx="320040" cy="320040"/>
          </a:xfrm>
          <a:prstGeom prst="ellipse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58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役割で閲覧制限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441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講師は自分のデータ+確定シフトのみ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916936"/>
            <a:ext cx="320040" cy="320040"/>
          </a:xfrm>
          <a:prstGeom prst="ellipse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16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過去データ保持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099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履歴は削除せず保存、給与確認に利用可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75304"/>
            <a:ext cx="320040" cy="320040"/>
          </a:xfrm>
          <a:prstGeom prst="ellipse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5753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03520" y="3529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アップロード履歴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誰がいつどのExcelを上げたか追跡可能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 導入スケジュール（目安）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0960" y="45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 / 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8234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eisai-manager  UI仕様書  v0.1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個人開発・学習を兼ねたペースで、運用開始までの目安は 1〜2ヶ月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88720" y="1280160"/>
            <a:ext cx="1097280" cy="4572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1307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基盤構築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1508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ログイン、講師登録、画面の土台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47088"/>
            <a:ext cx="548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47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88720" y="1847088"/>
            <a:ext cx="1097280" cy="4572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講師機能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20756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固定シフト登録・講習希望提出・欠勤申請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14016"/>
            <a:ext cx="548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1401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2414016"/>
            <a:ext cx="1097280" cy="4572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4140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77440" y="2441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教室長機能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264261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期間管理、希望俯瞰、Excelアップロード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980944"/>
            <a:ext cx="548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809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88720" y="2980944"/>
            <a:ext cx="1097280" cy="4572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29809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008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交代・承認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377440" y="3209544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交代・代講フロー、承認画面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547872"/>
            <a:ext cx="5486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478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188720" y="3547872"/>
            <a:ext cx="1097280" cy="457200"/>
          </a:xfrm>
          <a:prstGeom prst="rect">
            <a:avLst/>
          </a:prstGeom>
          <a:solidFill>
            <a:srgbClr val="FDE9D4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35478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77440" y="35753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仕上げ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377440" y="37764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スマホ調整、セキュリティ、本番公開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3159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運用開始までの目安:  </a:t>
            </a:r>
            <a:pPr indent="0" marL="0">
              <a:buNone/>
            </a:pPr>
            <a:r>
              <a:rPr lang="en-US" sz="1600" b="1" dirty="0">
                <a:solidFill>
                  <a:srgbClr val="E88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1〜2ヶ月</a:t>
            </a:r>
            <a:pPr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（実物Excelをいただけると実装が加速します）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3D4E88">
              <a:alpha val="30000"/>
            </a:srgbClr>
          </a:solidFill>
          <a:ln w="12700">
            <a:solidFill>
              <a:srgbClr val="3D4E8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548640"/>
            <a:ext cx="2011680" cy="2011680"/>
          </a:xfrm>
          <a:prstGeom prst="ellipse">
            <a:avLst/>
          </a:prstGeom>
          <a:solidFill>
            <a:srgbClr val="E8833A">
              <a:alpha val="20000"/>
            </a:srgbClr>
          </a:solidFill>
          <a:ln w="12700">
            <a:solidFill>
              <a:srgbClr val="E8833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0" y="137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 / 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ご承認いただきたいポイント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399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 Excel フォーマットの共有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673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週次シフト Excel を 1〜2 週分サンプルとしてご提供ください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020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コマの時間帯の確定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2951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1限〜何限まで、各コマの開始・終了時刻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60904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642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講師・管理者の人数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169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運用開始時点での登録対象人数の目安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3264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講習期間の名称と回数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春期・夏期・冬期・直前講習 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904488"/>
            <a:ext cx="457200" cy="457200"/>
          </a:xfrm>
          <a:prstGeom prst="ellipse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4440" y="3886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本システム開発・導入のご許可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上記前提で MVP 開発を進めてよいか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8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ご不明点・ご要望があればお気軽にお知らせください。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シフト管理システム eisai-manager UI仕様書</dc:title>
  <dc:subject>PptxGenJS Presentation</dc:subject>
  <dc:creator>eisai-manager 開発チーム</dc:creator>
  <cp:lastModifiedBy>eisai-manager 開発チーム</cp:lastModifiedBy>
  <cp:revision>1</cp:revision>
  <dcterms:created xsi:type="dcterms:W3CDTF">2026-04-22T05:19:00Z</dcterms:created>
  <dcterms:modified xsi:type="dcterms:W3CDTF">2026-04-22T05:19:00Z</dcterms:modified>
</cp:coreProperties>
</file>